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C299-BE7B-15DC-05A7-0BDBB690C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3DBC8-A35F-556C-7B32-570BA6578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04F26-C614-088A-E9AF-4F68C778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231F0-9133-253D-CC9B-3A05BEEC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08990-EABE-08C2-B02C-A542F7DD1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59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12C6E-917F-DB7A-A2FB-7CDF5A0DA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1B96-1BAF-7F5B-C6E3-6C802DA61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43178-ADE3-D7B4-8D56-1839E95F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00968-F7B1-FDC9-EB11-ED9DF530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71CF5-B1A8-9FBC-0CED-F2EA278C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0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C4E4-8917-A631-C2DC-D17C40E3F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3D5A3-6D73-7724-0ECF-7B5AC2A90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3C7E0-0313-1103-7B1C-66BB7E1E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168BC-6622-D6A0-0F19-B65FB13E0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B265D-E9FB-1E2A-23C5-A8DC20E4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5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1DA5-3B34-F5F5-C3AD-13CD8B31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DB7D0-D7FE-8E21-E221-6F50F18C8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89B08-EC2C-5254-5F20-4D5BFFA77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9C6EE-08E9-9E7B-BD5C-22B7D2BB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0EC5D-3B15-2F8D-1CA6-A01FED56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796FF-FE6A-9004-C575-741B7FB3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57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39095-C0F3-91D5-26D2-9B57E71D8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DD7FC-1524-C9A6-293F-D8F6DDE4A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F661B-139D-DE2A-9D4B-FE991CE60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8ED16-85AE-6508-3DA7-E25EF5DC8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9B490-F4FB-2DC3-2248-B1F8E25F13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32C6E-E790-60AC-A5E5-A38372F4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7A507C-CAF0-23A5-21AD-EDCE42BF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50376-71C5-CEE8-90CE-D01420FD2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80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DB77-F3E9-EB6B-F3E8-91DA829BB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95E5A-D67E-8E1D-0E7D-11AFE3146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BD229-980C-8EE7-FFF2-E179FCA69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AEEBC-EE7A-D158-2BC6-3595C184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9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0D6D0-29DE-983A-1A16-2143FB2A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803E8F-CEB5-8206-12A4-C57AD768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6535E-209F-39C2-200B-ED5DA86B5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2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37CF-E1F6-821C-5A39-6242E0FFC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3D397-6DED-31CB-FEF6-DB3E8F00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71BB6-CD17-0A4E-2F3B-E97F981A1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C2C6C-EE44-EFF1-AB7B-BAD60ED4C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4ED5A-37A8-9224-7BAB-A5146A70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DB9D1-D8F8-9B07-8C47-92C4A21AB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37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C98A-2C12-FF21-6D88-00A0614DD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E0E65-2D44-A4D4-93A3-5C8C4CC9B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8BFFD-2805-2A5F-8A92-FCF8D7187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EE43D-A6E1-D10B-198A-7EF607D4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F9BC0-856A-16A4-8E66-E79B7E06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ABD83-E66C-CED0-862D-FDA377AA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99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DD5E-897E-62B1-AA50-BCE673E20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750FB-186A-7326-C50C-A4843A6EF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8EAD8-9B79-BB34-EBFE-AA86FF4C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9D958-D46B-4DDC-695B-C4753406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99C77-52A9-590D-7A6C-D690FD017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33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D50637-69F3-DD63-70D5-DE26657E9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46DF6-2A8B-A167-A956-7BFD563AD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BA205-D3A0-1560-0772-3BB1DCFAB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886CD-5F8A-FDF9-B912-295970545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D8D3B-E4FE-C0CE-5EC9-E4691B95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3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F4D76D-7D09-F22F-F91C-6219DF21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0C3BB-0046-F607-5752-0C4B4F125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F8E5-C824-A4EE-D495-0DAC66DEB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8A843-3C70-44F2-9DB1-CF2019018A6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2DC8F-8178-2E68-BB6D-2051BA20F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944B1-9C39-9F2F-EAAF-24C2C1BB9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C3621-B51D-4260-AAA1-97EB341F8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8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1C7835-743C-81C4-D180-E8EE2CF2BC88}"/>
              </a:ext>
            </a:extLst>
          </p:cNvPr>
          <p:cNvSpPr/>
          <p:nvPr/>
        </p:nvSpPr>
        <p:spPr>
          <a:xfrm>
            <a:off x="14960" y="-115381"/>
            <a:ext cx="554182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"/>
                  <a:lumOff val="99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36039E-E858-FB65-8984-F2AC05A0CB66}"/>
              </a:ext>
            </a:extLst>
          </p:cNvPr>
          <p:cNvSpPr/>
          <p:nvPr/>
        </p:nvSpPr>
        <p:spPr>
          <a:xfrm>
            <a:off x="446" y="0"/>
            <a:ext cx="12177486" cy="1248229"/>
          </a:xfrm>
          <a:prstGeom prst="rect">
            <a:avLst/>
          </a:prstGeom>
          <a:gradFill flip="none" rotWithShape="1">
            <a:gsLst>
              <a:gs pos="66000">
                <a:schemeClr val="accent1">
                  <a:lumMod val="5000"/>
                  <a:lumOff val="95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Unicef Logo transparent PNG - StickPNG">
            <a:extLst>
              <a:ext uri="{FF2B5EF4-FFF2-40B4-BE49-F238E27FC236}">
                <a16:creationId xmlns:a16="http://schemas.microsoft.com/office/drawing/2014/main" id="{24D235FF-CCDB-CF62-428C-48CEC1256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223" y="5297240"/>
            <a:ext cx="2236763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D1828C-D8F7-3B09-AC11-CAC1A1A2168E}"/>
              </a:ext>
            </a:extLst>
          </p:cNvPr>
          <p:cNvSpPr txBox="1"/>
          <p:nvPr/>
        </p:nvSpPr>
        <p:spPr>
          <a:xfrm>
            <a:off x="597724" y="524954"/>
            <a:ext cx="115652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accent1"/>
                </a:solidFill>
              </a:rPr>
              <a:t>UNICEF Education Monitoring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CCD4C-9082-F7D6-FB5C-3EE299B3DB91}"/>
              </a:ext>
            </a:extLst>
          </p:cNvPr>
          <p:cNvSpPr txBox="1"/>
          <p:nvPr/>
        </p:nvSpPr>
        <p:spPr>
          <a:xfrm>
            <a:off x="2931886" y="2801257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Kano State Education Analysis (2024–2025)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44F9EE-E143-BC60-6E52-AB0D02B7F038}"/>
              </a:ext>
            </a:extLst>
          </p:cNvPr>
          <p:cNvCxnSpPr/>
          <p:nvPr/>
        </p:nvCxnSpPr>
        <p:spPr>
          <a:xfrm flipV="1">
            <a:off x="568695" y="3687412"/>
            <a:ext cx="11594276" cy="1153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9C59C3-21A4-11C2-6278-10F0A56F3707}"/>
              </a:ext>
            </a:extLst>
          </p:cNvPr>
          <p:cNvSpPr txBox="1"/>
          <p:nvPr/>
        </p:nvSpPr>
        <p:spPr>
          <a:xfrm>
            <a:off x="4914404" y="4290989"/>
            <a:ext cx="2902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Prepared by Umar Musa Isah</a:t>
            </a:r>
          </a:p>
          <a:p>
            <a:pPr algn="ctr"/>
            <a:r>
              <a:rPr lang="en-US" sz="1200" dirty="0"/>
              <a:t>Power BI | Excel | Data Analytics Portfolio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40E475-4061-D9D7-E6A0-F6E1DAA12367}"/>
              </a:ext>
            </a:extLst>
          </p:cNvPr>
          <p:cNvSpPr txBox="1"/>
          <p:nvPr/>
        </p:nvSpPr>
        <p:spPr>
          <a:xfrm>
            <a:off x="9975272" y="6604084"/>
            <a:ext cx="23552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UNICEF Dashboard Portfolio  |  2026</a:t>
            </a:r>
          </a:p>
        </p:txBody>
      </p:sp>
    </p:spTree>
    <p:extLst>
      <p:ext uri="{BB962C8B-B14F-4D97-AF65-F5344CB8AC3E}">
        <p14:creationId xmlns:p14="http://schemas.microsoft.com/office/powerpoint/2010/main" val="3316864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AAF4F1-51E8-A047-C299-1A6FFE3307B0}"/>
              </a:ext>
            </a:extLst>
          </p:cNvPr>
          <p:cNvSpPr/>
          <p:nvPr/>
        </p:nvSpPr>
        <p:spPr>
          <a:xfrm>
            <a:off x="14960" y="-115381"/>
            <a:ext cx="554182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"/>
                  <a:lumOff val="99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783D0E-CB0D-8980-2BE6-14740D2D9BAB}"/>
              </a:ext>
            </a:extLst>
          </p:cNvPr>
          <p:cNvSpPr/>
          <p:nvPr/>
        </p:nvSpPr>
        <p:spPr>
          <a:xfrm>
            <a:off x="446" y="0"/>
            <a:ext cx="12177486" cy="1248229"/>
          </a:xfrm>
          <a:prstGeom prst="rect">
            <a:avLst/>
          </a:prstGeom>
          <a:gradFill flip="none" rotWithShape="1">
            <a:gsLst>
              <a:gs pos="66000">
                <a:schemeClr val="accent1">
                  <a:lumMod val="5000"/>
                  <a:lumOff val="95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F2EF0F-1E9C-067E-A044-C38F1F1CCA1C}"/>
              </a:ext>
            </a:extLst>
          </p:cNvPr>
          <p:cNvCxnSpPr>
            <a:cxnSpLocks/>
          </p:cNvCxnSpPr>
          <p:nvPr/>
        </p:nvCxnSpPr>
        <p:spPr>
          <a:xfrm>
            <a:off x="569142" y="1599920"/>
            <a:ext cx="11607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D296A4-3D5C-7ED0-176C-3AE58C21EA19}"/>
              </a:ext>
            </a:extLst>
          </p:cNvPr>
          <p:cNvSpPr txBox="1"/>
          <p:nvPr/>
        </p:nvSpPr>
        <p:spPr>
          <a:xfrm>
            <a:off x="583656" y="866128"/>
            <a:ext cx="2438399" cy="731520"/>
          </a:xfrm>
          <a:prstGeom prst="rect">
            <a:avLst/>
          </a:prstGeom>
          <a:gradFill>
            <a:gsLst>
              <a:gs pos="52000">
                <a:schemeClr val="accent1">
                  <a:lumMod val="5000"/>
                  <a:lumOff val="95000"/>
                  <a:alpha val="50000"/>
                </a:schemeClr>
              </a:gs>
              <a:gs pos="97000">
                <a:schemeClr val="accent1">
                  <a:lumMod val="7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Project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A80E2-2611-CC5C-F068-0334DF9B9D34}"/>
              </a:ext>
            </a:extLst>
          </p:cNvPr>
          <p:cNvSpPr txBox="1"/>
          <p:nvPr/>
        </p:nvSpPr>
        <p:spPr>
          <a:xfrm>
            <a:off x="720985" y="2508114"/>
            <a:ext cx="5250873" cy="3383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This project simulates a UNICEF-style education monitoring system for Kano State using synthetic data generated with Python and analyzed in Power BI. The dashboard supports data-driven monitoring of enrollment, attendance, gender inclusion, WASH indicators and school infrastructure performance across multiple LGAs.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F0DA0D-4D01-18EC-F126-AC6798DC0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144" y="2508114"/>
            <a:ext cx="5512344" cy="3383278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3684B1-9BB2-B1D1-1DBB-B4CB77313450}"/>
              </a:ext>
            </a:extLst>
          </p:cNvPr>
          <p:cNvSpPr txBox="1"/>
          <p:nvPr/>
        </p:nvSpPr>
        <p:spPr>
          <a:xfrm>
            <a:off x="9975272" y="6604084"/>
            <a:ext cx="23552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UNICEF Dashboard Portfolio  |  2026</a:t>
            </a:r>
          </a:p>
        </p:txBody>
      </p:sp>
    </p:spTree>
    <p:extLst>
      <p:ext uri="{BB962C8B-B14F-4D97-AF65-F5344CB8AC3E}">
        <p14:creationId xmlns:p14="http://schemas.microsoft.com/office/powerpoint/2010/main" val="73044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1E419A-B03A-79D2-03A5-478946032926}"/>
              </a:ext>
            </a:extLst>
          </p:cNvPr>
          <p:cNvSpPr/>
          <p:nvPr/>
        </p:nvSpPr>
        <p:spPr>
          <a:xfrm>
            <a:off x="14960" y="-115381"/>
            <a:ext cx="554182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"/>
                  <a:lumOff val="99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FF34CE-0F74-AC92-1F44-F4B9BFABA6A4}"/>
              </a:ext>
            </a:extLst>
          </p:cNvPr>
          <p:cNvSpPr/>
          <p:nvPr/>
        </p:nvSpPr>
        <p:spPr>
          <a:xfrm>
            <a:off x="446" y="0"/>
            <a:ext cx="12177486" cy="1248229"/>
          </a:xfrm>
          <a:prstGeom prst="rect">
            <a:avLst/>
          </a:prstGeom>
          <a:gradFill flip="none" rotWithShape="1">
            <a:gsLst>
              <a:gs pos="66000">
                <a:schemeClr val="accent1">
                  <a:lumMod val="5000"/>
                  <a:lumOff val="95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1E83DD-848E-05E0-9560-D177208266B5}"/>
              </a:ext>
            </a:extLst>
          </p:cNvPr>
          <p:cNvCxnSpPr>
            <a:cxnSpLocks/>
          </p:cNvCxnSpPr>
          <p:nvPr/>
        </p:nvCxnSpPr>
        <p:spPr>
          <a:xfrm>
            <a:off x="569142" y="1599920"/>
            <a:ext cx="11607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3E7FF3-4E24-17B1-2BC1-B7F348B81EB0}"/>
              </a:ext>
            </a:extLst>
          </p:cNvPr>
          <p:cNvSpPr txBox="1"/>
          <p:nvPr/>
        </p:nvSpPr>
        <p:spPr>
          <a:xfrm>
            <a:off x="3036569" y="866127"/>
            <a:ext cx="2616086" cy="731520"/>
          </a:xfrm>
          <a:prstGeom prst="rect">
            <a:avLst/>
          </a:prstGeom>
          <a:gradFill>
            <a:gsLst>
              <a:gs pos="52000">
                <a:schemeClr val="accent1">
                  <a:lumMod val="5000"/>
                  <a:lumOff val="95000"/>
                  <a:alpha val="50000"/>
                </a:schemeClr>
              </a:gs>
              <a:gs pos="97000">
                <a:schemeClr val="accent1">
                  <a:lumMod val="7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Project Objectives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91D641-79E1-9FFA-BBC5-082D3B14A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131" y="2614228"/>
            <a:ext cx="718672" cy="7186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9CA843-9AD2-35ED-3A7F-5065CAB8C932}"/>
              </a:ext>
            </a:extLst>
          </p:cNvPr>
          <p:cNvSpPr txBox="1"/>
          <p:nvPr/>
        </p:nvSpPr>
        <p:spPr>
          <a:xfrm>
            <a:off x="2696149" y="2788898"/>
            <a:ext cx="3683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Monitor school enrollment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F15982-A49E-470B-8744-4DC6B446B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132" y="3525101"/>
            <a:ext cx="718673" cy="7186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9FC69BD-ACD2-25D7-8141-5C360BEA226D}"/>
              </a:ext>
            </a:extLst>
          </p:cNvPr>
          <p:cNvSpPr txBox="1"/>
          <p:nvPr/>
        </p:nvSpPr>
        <p:spPr>
          <a:xfrm>
            <a:off x="2696149" y="3699771"/>
            <a:ext cx="3572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Analyze attendance patterns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BC88850-C959-A0A5-F200-BBEF96C9F7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132" y="4435975"/>
            <a:ext cx="718671" cy="71867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87C0EB6-495A-19F2-95A8-92C22428A146}"/>
              </a:ext>
            </a:extLst>
          </p:cNvPr>
          <p:cNvSpPr txBox="1"/>
          <p:nvPr/>
        </p:nvSpPr>
        <p:spPr>
          <a:xfrm>
            <a:off x="2696149" y="4610644"/>
            <a:ext cx="3871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Evaluate gender inclusion</a:t>
            </a:r>
          </a:p>
        </p:txBody>
      </p:sp>
      <p:pic>
        <p:nvPicPr>
          <p:cNvPr id="25" name="Picture 24" descr="A blue drop of water&#10;&#10;AI-generated content may be incorrect.">
            <a:extLst>
              <a:ext uri="{FF2B5EF4-FFF2-40B4-BE49-F238E27FC236}">
                <a16:creationId xmlns:a16="http://schemas.microsoft.com/office/drawing/2014/main" id="{BC9F8C52-6060-9D3B-1F47-F102F92E9A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260" y="2451663"/>
            <a:ext cx="1043802" cy="104380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A190905-7073-1B27-1E25-B96A6EA8A1D1}"/>
              </a:ext>
            </a:extLst>
          </p:cNvPr>
          <p:cNvSpPr txBox="1"/>
          <p:nvPr/>
        </p:nvSpPr>
        <p:spPr>
          <a:xfrm>
            <a:off x="7828720" y="2788898"/>
            <a:ext cx="4158945" cy="36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Track WASH access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30DE4C7-D67E-F77D-33B2-A1D2D93687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9390" y="3525101"/>
            <a:ext cx="689035" cy="68903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8FABAEB-0562-0874-C45F-97677559487E}"/>
              </a:ext>
            </a:extLst>
          </p:cNvPr>
          <p:cNvSpPr txBox="1"/>
          <p:nvPr/>
        </p:nvSpPr>
        <p:spPr>
          <a:xfrm>
            <a:off x="7828720" y="3699771"/>
            <a:ext cx="3398503" cy="36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Identify infrastructure gaps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3840FF6-84A0-F5C9-7415-D4422E487C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7621" y="4336805"/>
            <a:ext cx="897017" cy="89701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59B2983-2A6A-68EA-1DC2-D3E68C09E292}"/>
              </a:ext>
            </a:extLst>
          </p:cNvPr>
          <p:cNvSpPr txBox="1"/>
          <p:nvPr/>
        </p:nvSpPr>
        <p:spPr>
          <a:xfrm>
            <a:off x="7864585" y="4610644"/>
            <a:ext cx="3398502" cy="36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Support decision-making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648B7-D16B-B854-39AB-DA92E3A1D6FE}"/>
              </a:ext>
            </a:extLst>
          </p:cNvPr>
          <p:cNvSpPr txBox="1"/>
          <p:nvPr/>
        </p:nvSpPr>
        <p:spPr>
          <a:xfrm>
            <a:off x="9975272" y="6604084"/>
            <a:ext cx="23552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UNICEF Dashboard Portfolio  |  2026</a:t>
            </a:r>
          </a:p>
        </p:txBody>
      </p:sp>
    </p:spTree>
    <p:extLst>
      <p:ext uri="{BB962C8B-B14F-4D97-AF65-F5344CB8AC3E}">
        <p14:creationId xmlns:p14="http://schemas.microsoft.com/office/powerpoint/2010/main" val="1403714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DDE6DE-4630-9E8C-986B-E12B3E575DF8}"/>
              </a:ext>
            </a:extLst>
          </p:cNvPr>
          <p:cNvSpPr/>
          <p:nvPr/>
        </p:nvSpPr>
        <p:spPr>
          <a:xfrm>
            <a:off x="14960" y="-115381"/>
            <a:ext cx="554182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"/>
                  <a:lumOff val="99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0AC091-6F37-8191-F125-64A431AA4F15}"/>
              </a:ext>
            </a:extLst>
          </p:cNvPr>
          <p:cNvSpPr/>
          <p:nvPr/>
        </p:nvSpPr>
        <p:spPr>
          <a:xfrm>
            <a:off x="446" y="0"/>
            <a:ext cx="12177486" cy="1248229"/>
          </a:xfrm>
          <a:prstGeom prst="rect">
            <a:avLst/>
          </a:prstGeom>
          <a:gradFill flip="none" rotWithShape="1">
            <a:gsLst>
              <a:gs pos="66000">
                <a:schemeClr val="accent1">
                  <a:lumMod val="5000"/>
                  <a:lumOff val="95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71645E-2610-7D1F-6A30-70AA4230C05E}"/>
              </a:ext>
            </a:extLst>
          </p:cNvPr>
          <p:cNvCxnSpPr>
            <a:cxnSpLocks/>
          </p:cNvCxnSpPr>
          <p:nvPr/>
        </p:nvCxnSpPr>
        <p:spPr>
          <a:xfrm>
            <a:off x="569142" y="1599920"/>
            <a:ext cx="11607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C68135F-F040-2DDB-09D6-E5968068DB49}"/>
              </a:ext>
            </a:extLst>
          </p:cNvPr>
          <p:cNvSpPr txBox="1"/>
          <p:nvPr/>
        </p:nvSpPr>
        <p:spPr>
          <a:xfrm>
            <a:off x="5652654" y="866126"/>
            <a:ext cx="3389745" cy="731520"/>
          </a:xfrm>
          <a:prstGeom prst="rect">
            <a:avLst/>
          </a:prstGeom>
          <a:gradFill>
            <a:gsLst>
              <a:gs pos="52000">
                <a:schemeClr val="accent1">
                  <a:lumMod val="5000"/>
                  <a:lumOff val="95000"/>
                  <a:alpha val="50000"/>
                </a:schemeClr>
              </a:gs>
              <a:gs pos="97000">
                <a:schemeClr val="accent1">
                  <a:lumMod val="7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Dataset &amp; Methodology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A203FEE-F455-6494-99EC-88CCAA0B3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375672"/>
              </p:ext>
            </p:extLst>
          </p:nvPr>
        </p:nvGraphicFramePr>
        <p:xfrm>
          <a:off x="798285" y="2240526"/>
          <a:ext cx="5036458" cy="3420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229">
                  <a:extLst>
                    <a:ext uri="{9D8B030D-6E8A-4147-A177-3AD203B41FA5}">
                      <a16:colId xmlns:a16="http://schemas.microsoft.com/office/drawing/2014/main" val="1825808286"/>
                    </a:ext>
                  </a:extLst>
                </a:gridCol>
                <a:gridCol w="2518229">
                  <a:extLst>
                    <a:ext uri="{9D8B030D-6E8A-4147-A177-3AD203B41FA5}">
                      <a16:colId xmlns:a16="http://schemas.microsoft.com/office/drawing/2014/main" val="748902122"/>
                    </a:ext>
                  </a:extLst>
                </a:gridCol>
              </a:tblGrid>
              <a:tr h="6840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981591"/>
                  </a:ext>
                </a:extLst>
              </a:tr>
              <a:tr h="684010">
                <a:tc>
                  <a:txBody>
                    <a:bodyPr/>
                    <a:lstStyle/>
                    <a:p>
                      <a:r>
                        <a:rPr lang="en-US"/>
                        <a:t>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7,500+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5928518"/>
                  </a:ext>
                </a:extLst>
              </a:tr>
              <a:tr h="684010">
                <a:tc>
                  <a:txBody>
                    <a:bodyPr/>
                    <a:lstStyle/>
                    <a:p>
                      <a:r>
                        <a:rPr lang="en-US"/>
                        <a:t>LGAs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724605"/>
                  </a:ext>
                </a:extLst>
              </a:tr>
              <a:tr h="684010">
                <a:tc>
                  <a:txBody>
                    <a:bodyPr/>
                    <a:lstStyle/>
                    <a:p>
                      <a:r>
                        <a:rPr lang="en-US"/>
                        <a:t>Time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2024–2025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80246"/>
                  </a:ext>
                </a:extLst>
              </a:tr>
              <a:tr h="684010">
                <a:tc>
                  <a:txBody>
                    <a:bodyPr/>
                    <a:lstStyle/>
                    <a:p>
                      <a:r>
                        <a:rPr lang="en-US"/>
                        <a:t>Tool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93248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CE370A9-99D3-4E44-EAEF-D0BA0B751430}"/>
              </a:ext>
            </a:extLst>
          </p:cNvPr>
          <p:cNvSpPr txBox="1"/>
          <p:nvPr/>
        </p:nvSpPr>
        <p:spPr>
          <a:xfrm>
            <a:off x="2082799" y="1723020"/>
            <a:ext cx="246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B4853E-2791-CFF5-8740-4B9E77C3C977}"/>
              </a:ext>
            </a:extLst>
          </p:cNvPr>
          <p:cNvSpPr txBox="1"/>
          <p:nvPr/>
        </p:nvSpPr>
        <p:spPr>
          <a:xfrm>
            <a:off x="7641774" y="1723020"/>
            <a:ext cx="291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Python → Excel → Power BI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475818C-219E-38FC-FA19-14AD7C650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889" y="3004460"/>
            <a:ext cx="1553025" cy="1553025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0F0486D9-4B39-A13B-BC0D-FE79B9CC1CA5}"/>
              </a:ext>
            </a:extLst>
          </p:cNvPr>
          <p:cNvSpPr/>
          <p:nvPr/>
        </p:nvSpPr>
        <p:spPr>
          <a:xfrm>
            <a:off x="7466457" y="3741856"/>
            <a:ext cx="478972" cy="223372"/>
          </a:xfrm>
          <a:prstGeom prst="rightArrow">
            <a:avLst/>
          </a:prstGeom>
          <a:gradFill>
            <a:gsLst>
              <a:gs pos="3000">
                <a:schemeClr val="accent1">
                  <a:lumMod val="5000"/>
                  <a:lumOff val="95000"/>
                  <a:alpha val="50000"/>
                </a:schemeClr>
              </a:gs>
              <a:gs pos="97000">
                <a:schemeClr val="accent1">
                  <a:lumMod val="7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EBFA89A-ED9D-747F-CEB5-9F9C63D20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570" y="3004460"/>
            <a:ext cx="1703140" cy="1553025"/>
          </a:xfrm>
          <a:prstGeom prst="rect">
            <a:avLst/>
          </a:prstGeom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2CB5B58B-2D47-3992-10AD-856816CE553B}"/>
              </a:ext>
            </a:extLst>
          </p:cNvPr>
          <p:cNvSpPr/>
          <p:nvPr/>
        </p:nvSpPr>
        <p:spPr>
          <a:xfrm>
            <a:off x="9857879" y="3741856"/>
            <a:ext cx="478972" cy="223372"/>
          </a:xfrm>
          <a:prstGeom prst="rightArrow">
            <a:avLst/>
          </a:prstGeom>
          <a:gradFill>
            <a:gsLst>
              <a:gs pos="3000">
                <a:schemeClr val="accent1">
                  <a:lumMod val="5000"/>
                  <a:lumOff val="95000"/>
                  <a:alpha val="50000"/>
                </a:schemeClr>
              </a:gs>
              <a:gs pos="97000">
                <a:schemeClr val="accent1">
                  <a:lumMod val="7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ED40F97-BBA0-71B8-6A09-360F34C55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3449" y="2829885"/>
            <a:ext cx="1703140" cy="20759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88DD80-C4E8-B4E2-59D2-CC1F1BEF6D56}"/>
              </a:ext>
            </a:extLst>
          </p:cNvPr>
          <p:cNvSpPr txBox="1"/>
          <p:nvPr/>
        </p:nvSpPr>
        <p:spPr>
          <a:xfrm>
            <a:off x="9975272" y="6604084"/>
            <a:ext cx="23552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UNICEF Dashboard Portfolio  |  2026</a:t>
            </a:r>
          </a:p>
        </p:txBody>
      </p:sp>
    </p:spTree>
    <p:extLst>
      <p:ext uri="{BB962C8B-B14F-4D97-AF65-F5344CB8AC3E}">
        <p14:creationId xmlns:p14="http://schemas.microsoft.com/office/powerpoint/2010/main" val="21349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6C3D64-7A25-6311-2F3E-6C19510DC12B}"/>
              </a:ext>
            </a:extLst>
          </p:cNvPr>
          <p:cNvSpPr/>
          <p:nvPr/>
        </p:nvSpPr>
        <p:spPr>
          <a:xfrm>
            <a:off x="14960" y="-115381"/>
            <a:ext cx="554182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"/>
                  <a:lumOff val="99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9D9C7-B622-B766-416E-1694E5AF45E7}"/>
              </a:ext>
            </a:extLst>
          </p:cNvPr>
          <p:cNvSpPr/>
          <p:nvPr/>
        </p:nvSpPr>
        <p:spPr>
          <a:xfrm>
            <a:off x="446" y="0"/>
            <a:ext cx="12177486" cy="1248229"/>
          </a:xfrm>
          <a:prstGeom prst="rect">
            <a:avLst/>
          </a:prstGeom>
          <a:gradFill flip="none" rotWithShape="1">
            <a:gsLst>
              <a:gs pos="66000">
                <a:schemeClr val="accent1">
                  <a:lumMod val="5000"/>
                  <a:lumOff val="95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EA4857-85D8-DF47-F26B-A1E29487162F}"/>
              </a:ext>
            </a:extLst>
          </p:cNvPr>
          <p:cNvCxnSpPr>
            <a:cxnSpLocks/>
          </p:cNvCxnSpPr>
          <p:nvPr/>
        </p:nvCxnSpPr>
        <p:spPr>
          <a:xfrm>
            <a:off x="569142" y="1599920"/>
            <a:ext cx="11607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0DA40C2-B1A1-05CE-D769-B0475344CA20}"/>
              </a:ext>
            </a:extLst>
          </p:cNvPr>
          <p:cNvSpPr txBox="1"/>
          <p:nvPr/>
        </p:nvSpPr>
        <p:spPr>
          <a:xfrm>
            <a:off x="8914848" y="866123"/>
            <a:ext cx="2943324" cy="731520"/>
          </a:xfrm>
          <a:prstGeom prst="rect">
            <a:avLst/>
          </a:prstGeom>
          <a:gradFill>
            <a:gsLst>
              <a:gs pos="52000">
                <a:schemeClr val="accent1">
                  <a:lumMod val="5000"/>
                  <a:lumOff val="95000"/>
                  <a:alpha val="50000"/>
                </a:schemeClr>
              </a:gs>
              <a:gs pos="97000">
                <a:schemeClr val="accent1">
                  <a:lumMod val="7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Dashboard Overview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E765F2-8ABD-1866-8FB1-853D629D3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14" y="1734186"/>
            <a:ext cx="4339772" cy="2358842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08D520-EC43-0F43-3D47-47598ACDE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716" y="1734187"/>
            <a:ext cx="4339770" cy="2358837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6C2B71-834C-DFB0-7BD2-A0BC69F0E8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114" y="4111175"/>
            <a:ext cx="5242734" cy="23588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9F63C4-4113-ACA1-BD11-9DAA44AF12CF}"/>
              </a:ext>
            </a:extLst>
          </p:cNvPr>
          <p:cNvSpPr txBox="1"/>
          <p:nvPr/>
        </p:nvSpPr>
        <p:spPr>
          <a:xfrm>
            <a:off x="1053828" y="395734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B138D4-4CB1-7A93-297F-0DEA61AF2102}"/>
              </a:ext>
            </a:extLst>
          </p:cNvPr>
          <p:cNvSpPr txBox="1"/>
          <p:nvPr/>
        </p:nvSpPr>
        <p:spPr>
          <a:xfrm>
            <a:off x="9160056" y="395734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Gender &amp; Inclusion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27E898-5869-15F8-FF16-BAD6DEA30EB8}"/>
              </a:ext>
            </a:extLst>
          </p:cNvPr>
          <p:cNvSpPr txBox="1"/>
          <p:nvPr/>
        </p:nvSpPr>
        <p:spPr>
          <a:xfrm>
            <a:off x="5226681" y="637328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WASH &amp; Facilities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88DC9-BCE7-4D2B-1AE5-A6B15A596B7E}"/>
              </a:ext>
            </a:extLst>
          </p:cNvPr>
          <p:cNvSpPr txBox="1"/>
          <p:nvPr/>
        </p:nvSpPr>
        <p:spPr>
          <a:xfrm>
            <a:off x="9975272" y="6590229"/>
            <a:ext cx="23552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UNICEF Dashboard Portfolio  |  2026</a:t>
            </a:r>
          </a:p>
        </p:txBody>
      </p:sp>
    </p:spTree>
    <p:extLst>
      <p:ext uri="{BB962C8B-B14F-4D97-AF65-F5344CB8AC3E}">
        <p14:creationId xmlns:p14="http://schemas.microsoft.com/office/powerpoint/2010/main" val="3173023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2D4F74-685B-A764-86E0-6B832B3FEFDF}"/>
              </a:ext>
            </a:extLst>
          </p:cNvPr>
          <p:cNvSpPr/>
          <p:nvPr/>
        </p:nvSpPr>
        <p:spPr>
          <a:xfrm>
            <a:off x="14960" y="-115381"/>
            <a:ext cx="554182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"/>
                  <a:lumOff val="99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A0F763-F241-1444-BC72-876D2C3938CD}"/>
              </a:ext>
            </a:extLst>
          </p:cNvPr>
          <p:cNvSpPr/>
          <p:nvPr/>
        </p:nvSpPr>
        <p:spPr>
          <a:xfrm>
            <a:off x="446" y="0"/>
            <a:ext cx="12177486" cy="1248229"/>
          </a:xfrm>
          <a:prstGeom prst="rect">
            <a:avLst/>
          </a:prstGeom>
          <a:gradFill flip="none" rotWithShape="1">
            <a:gsLst>
              <a:gs pos="66000">
                <a:schemeClr val="accent1">
                  <a:lumMod val="5000"/>
                  <a:lumOff val="95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696F3A-220C-4117-182C-E08E9C1B0767}"/>
              </a:ext>
            </a:extLst>
          </p:cNvPr>
          <p:cNvCxnSpPr>
            <a:cxnSpLocks/>
          </p:cNvCxnSpPr>
          <p:nvPr/>
        </p:nvCxnSpPr>
        <p:spPr>
          <a:xfrm>
            <a:off x="569142" y="1599920"/>
            <a:ext cx="11607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FF091ED-9E38-BCE8-E794-3C98B86A31FA}"/>
              </a:ext>
            </a:extLst>
          </p:cNvPr>
          <p:cNvSpPr txBox="1"/>
          <p:nvPr/>
        </p:nvSpPr>
        <p:spPr>
          <a:xfrm>
            <a:off x="583656" y="868399"/>
            <a:ext cx="1771617" cy="731520"/>
          </a:xfrm>
          <a:prstGeom prst="rect">
            <a:avLst/>
          </a:prstGeom>
          <a:gradFill>
            <a:gsLst>
              <a:gs pos="52000">
                <a:schemeClr val="accent1">
                  <a:lumMod val="5000"/>
                  <a:lumOff val="95000"/>
                  <a:alpha val="50000"/>
                </a:schemeClr>
              </a:gs>
              <a:gs pos="97000">
                <a:schemeClr val="accent1">
                  <a:lumMod val="7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Key Insights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CB2E3C-0ADD-A575-BEA6-C904A12C459C}"/>
              </a:ext>
            </a:extLst>
          </p:cNvPr>
          <p:cNvSpPr/>
          <p:nvPr/>
        </p:nvSpPr>
        <p:spPr>
          <a:xfrm>
            <a:off x="656442" y="2593461"/>
            <a:ext cx="3754582" cy="241069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CA6C05-2A3D-B930-9E74-D20155F9C0CA}"/>
              </a:ext>
            </a:extLst>
          </p:cNvPr>
          <p:cNvSpPr txBox="1"/>
          <p:nvPr/>
        </p:nvSpPr>
        <p:spPr>
          <a:xfrm>
            <a:off x="771349" y="3157857"/>
            <a:ext cx="3468914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Urban LGAs demonstrated stronger attendance and enrollment performance than rural LGAs.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6DB307-7A0F-479D-2ABA-DEFE829306FF}"/>
              </a:ext>
            </a:extLst>
          </p:cNvPr>
          <p:cNvSpPr/>
          <p:nvPr/>
        </p:nvSpPr>
        <p:spPr>
          <a:xfrm>
            <a:off x="4555175" y="2614232"/>
            <a:ext cx="3601958" cy="241069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8857A2-EC5F-8AAE-9A81-2DB2EBE8F1D8}"/>
              </a:ext>
            </a:extLst>
          </p:cNvPr>
          <p:cNvSpPr txBox="1"/>
          <p:nvPr/>
        </p:nvSpPr>
        <p:spPr>
          <a:xfrm>
            <a:off x="4638634" y="3157856"/>
            <a:ext cx="3468914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Girls participation improved in several communities but rural areas still showed lower inclusion rates.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08614ED-F89A-39DB-F5E4-33CB4200FEEB}"/>
              </a:ext>
            </a:extLst>
          </p:cNvPr>
          <p:cNvSpPr/>
          <p:nvPr/>
        </p:nvSpPr>
        <p:spPr>
          <a:xfrm>
            <a:off x="8327894" y="2614232"/>
            <a:ext cx="3754582" cy="241069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E29BBC-72B1-594D-F1C4-E9D365A1A5A3}"/>
              </a:ext>
            </a:extLst>
          </p:cNvPr>
          <p:cNvSpPr txBox="1"/>
          <p:nvPr/>
        </p:nvSpPr>
        <p:spPr>
          <a:xfrm>
            <a:off x="8397057" y="3137086"/>
            <a:ext cx="3468914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Water access and learning materials remain inconsistent across schools in rural communities.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33337-C642-E961-3ECE-927DE8F97DC4}"/>
              </a:ext>
            </a:extLst>
          </p:cNvPr>
          <p:cNvSpPr txBox="1"/>
          <p:nvPr/>
        </p:nvSpPr>
        <p:spPr>
          <a:xfrm>
            <a:off x="9975272" y="6604084"/>
            <a:ext cx="23552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UNICEF Dashboard Portfolio  |  2026</a:t>
            </a:r>
          </a:p>
        </p:txBody>
      </p:sp>
    </p:spTree>
    <p:extLst>
      <p:ext uri="{BB962C8B-B14F-4D97-AF65-F5344CB8AC3E}">
        <p14:creationId xmlns:p14="http://schemas.microsoft.com/office/powerpoint/2010/main" val="3327109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F93048-7806-E94B-EC14-F792D0E94F71}"/>
              </a:ext>
            </a:extLst>
          </p:cNvPr>
          <p:cNvSpPr/>
          <p:nvPr/>
        </p:nvSpPr>
        <p:spPr>
          <a:xfrm>
            <a:off x="14960" y="-115381"/>
            <a:ext cx="554182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"/>
                  <a:lumOff val="99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9036D5-79F7-C94F-C4C3-C2FC7A5EA303}"/>
              </a:ext>
            </a:extLst>
          </p:cNvPr>
          <p:cNvSpPr/>
          <p:nvPr/>
        </p:nvSpPr>
        <p:spPr>
          <a:xfrm>
            <a:off x="446" y="0"/>
            <a:ext cx="12177486" cy="1248229"/>
          </a:xfrm>
          <a:prstGeom prst="rect">
            <a:avLst/>
          </a:prstGeom>
          <a:gradFill flip="none" rotWithShape="1">
            <a:gsLst>
              <a:gs pos="66000">
                <a:schemeClr val="accent1">
                  <a:lumMod val="5000"/>
                  <a:lumOff val="95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8B760F-5E8B-CA79-EE2C-A7270D63D7E8}"/>
              </a:ext>
            </a:extLst>
          </p:cNvPr>
          <p:cNvCxnSpPr>
            <a:cxnSpLocks/>
          </p:cNvCxnSpPr>
          <p:nvPr/>
        </p:nvCxnSpPr>
        <p:spPr>
          <a:xfrm>
            <a:off x="569142" y="1599920"/>
            <a:ext cx="11607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D584060-E744-FDB3-E8A4-CD92083512AC}"/>
              </a:ext>
            </a:extLst>
          </p:cNvPr>
          <p:cNvSpPr txBox="1"/>
          <p:nvPr/>
        </p:nvSpPr>
        <p:spPr>
          <a:xfrm>
            <a:off x="2355273" y="868397"/>
            <a:ext cx="3061854" cy="731520"/>
          </a:xfrm>
          <a:prstGeom prst="rect">
            <a:avLst/>
          </a:prstGeom>
          <a:gradFill>
            <a:gsLst>
              <a:gs pos="52000">
                <a:schemeClr val="accent1">
                  <a:lumMod val="5000"/>
                  <a:lumOff val="95000"/>
                  <a:alpha val="50000"/>
                </a:schemeClr>
              </a:gs>
              <a:gs pos="97000">
                <a:schemeClr val="accent1">
                  <a:lumMod val="7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Tools &amp; Skills Applied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ED5B44-73C3-8961-4DB1-60BEB2262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993" y="2479659"/>
            <a:ext cx="1182909" cy="1182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C0F3DE-048B-76F3-D4FB-54F8A4D9C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993" y="4053397"/>
            <a:ext cx="1182909" cy="1204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E40AA-B4D0-3EE4-99E0-462481C74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993" y="5416162"/>
            <a:ext cx="1182909" cy="14418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DA7523-3A16-3AF7-675A-3491E5CF355A}"/>
              </a:ext>
            </a:extLst>
          </p:cNvPr>
          <p:cNvSpPr txBox="1"/>
          <p:nvPr/>
        </p:nvSpPr>
        <p:spPr>
          <a:xfrm>
            <a:off x="2355273" y="2012735"/>
            <a:ext cx="24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Tools Icons: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7D8E0-E9CD-7A91-D292-626177729963}"/>
              </a:ext>
            </a:extLst>
          </p:cNvPr>
          <p:cNvSpPr txBox="1"/>
          <p:nvPr/>
        </p:nvSpPr>
        <p:spPr>
          <a:xfrm>
            <a:off x="8600474" y="2012735"/>
            <a:ext cx="24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Skills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AA881D-C632-B5EE-C6FA-EB949D87C7A1}"/>
              </a:ext>
            </a:extLst>
          </p:cNvPr>
          <p:cNvSpPr txBox="1"/>
          <p:nvPr/>
        </p:nvSpPr>
        <p:spPr>
          <a:xfrm>
            <a:off x="7232073" y="2752492"/>
            <a:ext cx="3560618" cy="3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Data Cleaning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C252FC-303A-C205-DFC4-B3445479F6AF}"/>
              </a:ext>
            </a:extLst>
          </p:cNvPr>
          <p:cNvSpPr txBox="1"/>
          <p:nvPr/>
        </p:nvSpPr>
        <p:spPr>
          <a:xfrm>
            <a:off x="7232073" y="3262129"/>
            <a:ext cx="2770909" cy="3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Data Modeling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747747-6184-111C-6910-13EDEB2FDCB7}"/>
              </a:ext>
            </a:extLst>
          </p:cNvPr>
          <p:cNvSpPr txBox="1"/>
          <p:nvPr/>
        </p:nvSpPr>
        <p:spPr>
          <a:xfrm>
            <a:off x="7232073" y="3771766"/>
            <a:ext cx="2521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DAX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0C40AA-28F4-6264-6C64-15D345FB6962}"/>
              </a:ext>
            </a:extLst>
          </p:cNvPr>
          <p:cNvSpPr txBox="1"/>
          <p:nvPr/>
        </p:nvSpPr>
        <p:spPr>
          <a:xfrm>
            <a:off x="7232073" y="4274386"/>
            <a:ext cx="3840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Dashboard Design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66B89-8EFA-A717-BB40-9E85DC123E8F}"/>
              </a:ext>
            </a:extLst>
          </p:cNvPr>
          <p:cNvSpPr txBox="1"/>
          <p:nvPr/>
        </p:nvSpPr>
        <p:spPr>
          <a:xfrm>
            <a:off x="7232074" y="4784023"/>
            <a:ext cx="356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Data Storytelling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7A7BE6-AB83-C121-C9B3-A6730EC829AD}"/>
              </a:ext>
            </a:extLst>
          </p:cNvPr>
          <p:cNvSpPr txBox="1"/>
          <p:nvPr/>
        </p:nvSpPr>
        <p:spPr>
          <a:xfrm>
            <a:off x="7232073" y="5286652"/>
            <a:ext cx="3532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KPI Reporting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81365F-815E-2C82-8959-CE0D6148DAF4}"/>
              </a:ext>
            </a:extLst>
          </p:cNvPr>
          <p:cNvSpPr txBox="1"/>
          <p:nvPr/>
        </p:nvSpPr>
        <p:spPr>
          <a:xfrm>
            <a:off x="9975272" y="6604084"/>
            <a:ext cx="23552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UNICEF Dashboard Portfolio  |  2026</a:t>
            </a:r>
          </a:p>
        </p:txBody>
      </p:sp>
    </p:spTree>
    <p:extLst>
      <p:ext uri="{BB962C8B-B14F-4D97-AF65-F5344CB8AC3E}">
        <p14:creationId xmlns:p14="http://schemas.microsoft.com/office/powerpoint/2010/main" val="2416636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61BB4B-8143-B078-8890-5D809FBCD8C4}"/>
              </a:ext>
            </a:extLst>
          </p:cNvPr>
          <p:cNvSpPr/>
          <p:nvPr/>
        </p:nvSpPr>
        <p:spPr>
          <a:xfrm>
            <a:off x="14960" y="-115381"/>
            <a:ext cx="554182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"/>
                  <a:lumOff val="99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0155BC-3957-63B8-7DE6-23DD79236BC8}"/>
              </a:ext>
            </a:extLst>
          </p:cNvPr>
          <p:cNvSpPr/>
          <p:nvPr/>
        </p:nvSpPr>
        <p:spPr>
          <a:xfrm>
            <a:off x="446" y="0"/>
            <a:ext cx="12177486" cy="1248229"/>
          </a:xfrm>
          <a:prstGeom prst="rect">
            <a:avLst/>
          </a:prstGeom>
          <a:gradFill flip="none" rotWithShape="1">
            <a:gsLst>
              <a:gs pos="66000">
                <a:schemeClr val="accent1">
                  <a:lumMod val="5000"/>
                  <a:lumOff val="95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9648FD-61AD-7EC4-5927-5FD3C8FEA16A}"/>
              </a:ext>
            </a:extLst>
          </p:cNvPr>
          <p:cNvCxnSpPr>
            <a:cxnSpLocks/>
          </p:cNvCxnSpPr>
          <p:nvPr/>
        </p:nvCxnSpPr>
        <p:spPr>
          <a:xfrm>
            <a:off x="569142" y="1599920"/>
            <a:ext cx="11607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E72C54-FE8B-4E3C-5537-303B47A13C92}"/>
              </a:ext>
            </a:extLst>
          </p:cNvPr>
          <p:cNvSpPr txBox="1"/>
          <p:nvPr/>
        </p:nvSpPr>
        <p:spPr>
          <a:xfrm>
            <a:off x="2147455" y="2126914"/>
            <a:ext cx="8936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|   </a:t>
            </a:r>
            <a:r>
              <a:rPr lang="en-US" b="1" dirty="0"/>
              <a:t>Challenge</a:t>
            </a:r>
            <a:r>
              <a:rPr lang="en-US" dirty="0"/>
              <a:t>		    	    |			 </a:t>
            </a:r>
            <a:r>
              <a:rPr lang="en-US" b="1" dirty="0"/>
              <a:t>Solution</a:t>
            </a:r>
            <a:r>
              <a:rPr lang="en-US" dirty="0"/>
              <a:t>  |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A1BCFF-722C-53EC-77B3-D5CB8CB75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93" y="2900206"/>
            <a:ext cx="457162" cy="4571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2A28AA-88C9-D8FC-75B2-3AC13428ACA9}"/>
              </a:ext>
            </a:extLst>
          </p:cNvPr>
          <p:cNvSpPr txBox="1"/>
          <p:nvPr/>
        </p:nvSpPr>
        <p:spPr>
          <a:xfrm>
            <a:off x="2282537" y="3024670"/>
            <a:ext cx="3158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Relationship errors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809326-2900-DFC7-7CCE-2996D9BC0C35}"/>
              </a:ext>
            </a:extLst>
          </p:cNvPr>
          <p:cNvSpPr txBox="1"/>
          <p:nvPr/>
        </p:nvSpPr>
        <p:spPr>
          <a:xfrm>
            <a:off x="8070271" y="3023239"/>
            <a:ext cx="3726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lookup tables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BADA5C6-D23F-77D2-5E51-33ECE1357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455" y="3023239"/>
            <a:ext cx="1011382" cy="3693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768722D-0F4F-8DC0-0DA3-8151D48FA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93" y="3532747"/>
            <a:ext cx="457162" cy="4571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6773BB2-D0E2-5768-1D76-4F226825E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93" y="4165288"/>
            <a:ext cx="457162" cy="4571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260C447-A0DB-340A-230F-1E1872816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93" y="4797829"/>
            <a:ext cx="457162" cy="45716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3ED14A3-2CC9-ED03-480A-B6636B2C1E03}"/>
              </a:ext>
            </a:extLst>
          </p:cNvPr>
          <p:cNvSpPr txBox="1"/>
          <p:nvPr/>
        </p:nvSpPr>
        <p:spPr>
          <a:xfrm>
            <a:off x="2258291" y="3618390"/>
            <a:ext cx="3068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Large dataset handling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EF3837D-9067-4276-68E1-D992BFF3D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309" y="3617271"/>
            <a:ext cx="1011382" cy="36933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9E4B87F-9F4E-855B-D35A-F19B4504C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453" y="4211303"/>
            <a:ext cx="1011382" cy="36933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B788B1C-EF14-752C-CF18-3CEE7BAF8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453" y="4841744"/>
            <a:ext cx="1011382" cy="36933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02AC679-6814-6A1C-4452-21AA9D7C0ADB}"/>
              </a:ext>
            </a:extLst>
          </p:cNvPr>
          <p:cNvSpPr txBox="1"/>
          <p:nvPr/>
        </p:nvSpPr>
        <p:spPr>
          <a:xfrm>
            <a:off x="8070271" y="3618686"/>
            <a:ext cx="289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optimized DAX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203B26-E547-40ED-01BE-80242F15FC5D}"/>
              </a:ext>
            </a:extLst>
          </p:cNvPr>
          <p:cNvSpPr txBox="1"/>
          <p:nvPr/>
        </p:nvSpPr>
        <p:spPr>
          <a:xfrm>
            <a:off x="2258292" y="4213674"/>
            <a:ext cx="2951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Dashboard organization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305AFD-061F-82A8-A475-A0622B62E63F}"/>
              </a:ext>
            </a:extLst>
          </p:cNvPr>
          <p:cNvSpPr txBox="1"/>
          <p:nvPr/>
        </p:nvSpPr>
        <p:spPr>
          <a:xfrm>
            <a:off x="8070271" y="4211303"/>
            <a:ext cx="3539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Implemented page navigation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8D2B1D-7811-3195-AEDA-595CAC3A806C}"/>
              </a:ext>
            </a:extLst>
          </p:cNvPr>
          <p:cNvSpPr txBox="1"/>
          <p:nvPr/>
        </p:nvSpPr>
        <p:spPr>
          <a:xfrm>
            <a:off x="2282537" y="4841744"/>
            <a:ext cx="3539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Realistic simulation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98BB3-C580-CB1F-6001-24742DFCD412}"/>
              </a:ext>
            </a:extLst>
          </p:cNvPr>
          <p:cNvSpPr txBox="1"/>
          <p:nvPr/>
        </p:nvSpPr>
        <p:spPr>
          <a:xfrm>
            <a:off x="8070271" y="4841744"/>
            <a:ext cx="3553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Python synthetic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0072E-AF8C-A0FE-B6F0-BCAA725C9B04}"/>
              </a:ext>
            </a:extLst>
          </p:cNvPr>
          <p:cNvSpPr txBox="1"/>
          <p:nvPr/>
        </p:nvSpPr>
        <p:spPr>
          <a:xfrm>
            <a:off x="9975272" y="6604084"/>
            <a:ext cx="23552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UNICEF Dashboard Portfolio  | 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72A9C-52DF-F0E6-652D-9D5EF5E2A322}"/>
              </a:ext>
            </a:extLst>
          </p:cNvPr>
          <p:cNvSpPr txBox="1"/>
          <p:nvPr/>
        </p:nvSpPr>
        <p:spPr>
          <a:xfrm>
            <a:off x="5417126" y="882470"/>
            <a:ext cx="3311237" cy="731520"/>
          </a:xfrm>
          <a:prstGeom prst="rect">
            <a:avLst/>
          </a:prstGeom>
          <a:gradFill>
            <a:gsLst>
              <a:gs pos="52000">
                <a:schemeClr val="accent1">
                  <a:lumMod val="5000"/>
                  <a:lumOff val="95000"/>
                  <a:alpha val="50000"/>
                </a:schemeClr>
              </a:gs>
              <a:gs pos="97000">
                <a:schemeClr val="accent1">
                  <a:lumMod val="7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Challenges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75876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1836BE-014E-4169-50DE-D4C78EBFA950}"/>
              </a:ext>
            </a:extLst>
          </p:cNvPr>
          <p:cNvSpPr/>
          <p:nvPr/>
        </p:nvSpPr>
        <p:spPr>
          <a:xfrm>
            <a:off x="14960" y="-115381"/>
            <a:ext cx="554182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"/>
                  <a:lumOff val="99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260F43-A985-D73D-BED8-B68744657221}"/>
              </a:ext>
            </a:extLst>
          </p:cNvPr>
          <p:cNvSpPr/>
          <p:nvPr/>
        </p:nvSpPr>
        <p:spPr>
          <a:xfrm>
            <a:off x="446" y="0"/>
            <a:ext cx="12177486" cy="1248229"/>
          </a:xfrm>
          <a:prstGeom prst="rect">
            <a:avLst/>
          </a:prstGeom>
          <a:gradFill flip="none" rotWithShape="1">
            <a:gsLst>
              <a:gs pos="66000">
                <a:schemeClr val="accent1">
                  <a:lumMod val="5000"/>
                  <a:lumOff val="95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7291CF-E700-05CD-3C8A-82AD45E44498}"/>
              </a:ext>
            </a:extLst>
          </p:cNvPr>
          <p:cNvCxnSpPr>
            <a:cxnSpLocks/>
          </p:cNvCxnSpPr>
          <p:nvPr/>
        </p:nvCxnSpPr>
        <p:spPr>
          <a:xfrm>
            <a:off x="569142" y="1599920"/>
            <a:ext cx="11607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77BE516-7A8B-CA11-6030-065C4A1BB76B}"/>
              </a:ext>
            </a:extLst>
          </p:cNvPr>
          <p:cNvSpPr txBox="1"/>
          <p:nvPr/>
        </p:nvSpPr>
        <p:spPr>
          <a:xfrm>
            <a:off x="8728363" y="855262"/>
            <a:ext cx="2175165" cy="731520"/>
          </a:xfrm>
          <a:prstGeom prst="rect">
            <a:avLst/>
          </a:prstGeom>
          <a:gradFill>
            <a:gsLst>
              <a:gs pos="52000">
                <a:schemeClr val="accent1">
                  <a:lumMod val="5000"/>
                  <a:lumOff val="95000"/>
                  <a:alpha val="50000"/>
                </a:schemeClr>
              </a:gs>
              <a:gs pos="97000">
                <a:schemeClr val="accent1">
                  <a:lumMod val="7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Project 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3731B-A569-A386-1948-1F135AA6F7C4}"/>
              </a:ext>
            </a:extLst>
          </p:cNvPr>
          <p:cNvSpPr txBox="1"/>
          <p:nvPr/>
        </p:nvSpPr>
        <p:spPr>
          <a:xfrm>
            <a:off x="921443" y="2658407"/>
            <a:ext cx="5167746" cy="2787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This dashboard demonstrates the ability to transform raw education monitoring data into actionable insights for decision-making. The project reflects practical skills relevant to NGO, UN and data analyst roles.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08D7A1-9E03-9DF0-7580-3B0D41D715D1}"/>
              </a:ext>
            </a:extLst>
          </p:cNvPr>
          <p:cNvSpPr/>
          <p:nvPr/>
        </p:nvSpPr>
        <p:spPr>
          <a:xfrm>
            <a:off x="8028706" y="2047567"/>
            <a:ext cx="1960420" cy="12560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7,500+</a:t>
            </a:r>
          </a:p>
          <a:p>
            <a:pPr algn="ctr"/>
            <a:r>
              <a:rPr lang="en-US"/>
              <a:t>Records Analyzed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943261-FEB8-0017-9FDB-6FDFADFAD576}"/>
              </a:ext>
            </a:extLst>
          </p:cNvPr>
          <p:cNvSpPr txBox="1"/>
          <p:nvPr/>
        </p:nvSpPr>
        <p:spPr>
          <a:xfrm>
            <a:off x="8028705" y="2386120"/>
            <a:ext cx="196042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7,500+</a:t>
            </a:r>
          </a:p>
          <a:p>
            <a:r>
              <a:rPr lang="en-US" dirty="0"/>
              <a:t>Records Analyzed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E7C881-86D0-D845-EB3A-1DC55FB72D48}"/>
              </a:ext>
            </a:extLst>
          </p:cNvPr>
          <p:cNvSpPr/>
          <p:nvPr/>
        </p:nvSpPr>
        <p:spPr>
          <a:xfrm>
            <a:off x="8028706" y="3642204"/>
            <a:ext cx="1960420" cy="12560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7,500+</a:t>
            </a:r>
          </a:p>
          <a:p>
            <a:pPr algn="ctr"/>
            <a:r>
              <a:rPr lang="en-US"/>
              <a:t>Records Analyzed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BD58E5-9B2D-A8C9-EB01-53A8124BCD83}"/>
              </a:ext>
            </a:extLst>
          </p:cNvPr>
          <p:cNvSpPr txBox="1"/>
          <p:nvPr/>
        </p:nvSpPr>
        <p:spPr>
          <a:xfrm>
            <a:off x="8028705" y="3980757"/>
            <a:ext cx="196042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12</a:t>
            </a:r>
          </a:p>
          <a:p>
            <a:pPr algn="ctr"/>
            <a:r>
              <a:rPr lang="en-US" dirty="0"/>
              <a:t>LGAs Covered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9581E4-C11E-4885-FC00-07F9E84D373F}"/>
              </a:ext>
            </a:extLst>
          </p:cNvPr>
          <p:cNvSpPr/>
          <p:nvPr/>
        </p:nvSpPr>
        <p:spPr>
          <a:xfrm>
            <a:off x="8028705" y="5237582"/>
            <a:ext cx="1960420" cy="12560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7,500+</a:t>
            </a:r>
          </a:p>
          <a:p>
            <a:pPr algn="ctr"/>
            <a:r>
              <a:rPr lang="en-US"/>
              <a:t>Records Analyzed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0DE735-123E-D850-87A9-BEC4E06B5BEC}"/>
              </a:ext>
            </a:extLst>
          </p:cNvPr>
          <p:cNvSpPr txBox="1"/>
          <p:nvPr/>
        </p:nvSpPr>
        <p:spPr>
          <a:xfrm>
            <a:off x="8028704" y="5576135"/>
            <a:ext cx="196042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5</a:t>
            </a:r>
          </a:p>
          <a:p>
            <a:pPr algn="ctr"/>
            <a:r>
              <a:rPr lang="en-US" dirty="0"/>
              <a:t>Dashboard Pages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535C3-CDAB-514C-E0E9-499B20AF7740}"/>
              </a:ext>
            </a:extLst>
          </p:cNvPr>
          <p:cNvSpPr txBox="1"/>
          <p:nvPr/>
        </p:nvSpPr>
        <p:spPr>
          <a:xfrm>
            <a:off x="9975272" y="6604084"/>
            <a:ext cx="23552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UNICEF Dashboard Portfolio  |  2026</a:t>
            </a:r>
          </a:p>
        </p:txBody>
      </p:sp>
    </p:spTree>
    <p:extLst>
      <p:ext uri="{BB962C8B-B14F-4D97-AF65-F5344CB8AC3E}">
        <p14:creationId xmlns:p14="http://schemas.microsoft.com/office/powerpoint/2010/main" val="1552780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573A49-6653-7658-987E-AE26E3FC8DAD}"/>
              </a:ext>
            </a:extLst>
          </p:cNvPr>
          <p:cNvSpPr/>
          <p:nvPr/>
        </p:nvSpPr>
        <p:spPr>
          <a:xfrm>
            <a:off x="14960" y="-115381"/>
            <a:ext cx="554182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"/>
                  <a:lumOff val="99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D5E256-EDF5-85D4-D3D0-C6C91952AE76}"/>
              </a:ext>
            </a:extLst>
          </p:cNvPr>
          <p:cNvSpPr/>
          <p:nvPr/>
        </p:nvSpPr>
        <p:spPr>
          <a:xfrm>
            <a:off x="446" y="0"/>
            <a:ext cx="12177486" cy="1248229"/>
          </a:xfrm>
          <a:prstGeom prst="rect">
            <a:avLst/>
          </a:prstGeom>
          <a:gradFill flip="none" rotWithShape="1">
            <a:gsLst>
              <a:gs pos="66000">
                <a:schemeClr val="accent1">
                  <a:lumMod val="5000"/>
                  <a:lumOff val="95000"/>
                  <a:alpha val="0"/>
                </a:schemeClr>
              </a:gs>
              <a:gs pos="97000">
                <a:schemeClr val="accent1">
                  <a:lumMod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A6EAEB-8131-3045-B593-573B91679F48}"/>
              </a:ext>
            </a:extLst>
          </p:cNvPr>
          <p:cNvCxnSpPr>
            <a:cxnSpLocks/>
          </p:cNvCxnSpPr>
          <p:nvPr/>
        </p:nvCxnSpPr>
        <p:spPr>
          <a:xfrm>
            <a:off x="569142" y="1599920"/>
            <a:ext cx="11607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D71E20-6F27-82B9-E485-0A298C5AF19F}"/>
              </a:ext>
            </a:extLst>
          </p:cNvPr>
          <p:cNvSpPr txBox="1"/>
          <p:nvPr/>
        </p:nvSpPr>
        <p:spPr>
          <a:xfrm>
            <a:off x="4253344" y="43480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Portfolio &amp; Learning Purposes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6642F-B1AF-6826-DA8F-7A43E3E3864C}"/>
              </a:ext>
            </a:extLst>
          </p:cNvPr>
          <p:cNvSpPr txBox="1"/>
          <p:nvPr/>
        </p:nvSpPr>
        <p:spPr>
          <a:xfrm>
            <a:off x="5098473" y="5274262"/>
            <a:ext cx="3228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Umar Musa Isah</a:t>
            </a:r>
          </a:p>
        </p:txBody>
      </p:sp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2315B857-A0DE-2BC8-6DF5-906747A8C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469" y="1626725"/>
            <a:ext cx="4915766" cy="269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FDA96F-799A-0D91-10C9-0753BE2451FC}"/>
              </a:ext>
            </a:extLst>
          </p:cNvPr>
          <p:cNvSpPr txBox="1"/>
          <p:nvPr/>
        </p:nvSpPr>
        <p:spPr>
          <a:xfrm>
            <a:off x="9975272" y="6604084"/>
            <a:ext cx="23552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UNICEF Dashboard Portfolio  |  2026</a:t>
            </a:r>
          </a:p>
        </p:txBody>
      </p:sp>
    </p:spTree>
    <p:extLst>
      <p:ext uri="{BB962C8B-B14F-4D97-AF65-F5344CB8AC3E}">
        <p14:creationId xmlns:p14="http://schemas.microsoft.com/office/powerpoint/2010/main" val="746992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Umar">
      <a:majorFont>
        <a:latin typeface="Segoe U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338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 musa isah</dc:creator>
  <cp:lastModifiedBy>umar musa isah</cp:lastModifiedBy>
  <cp:revision>21</cp:revision>
  <dcterms:created xsi:type="dcterms:W3CDTF">2026-05-08T11:42:03Z</dcterms:created>
  <dcterms:modified xsi:type="dcterms:W3CDTF">2026-05-09T22:15:10Z</dcterms:modified>
</cp:coreProperties>
</file>